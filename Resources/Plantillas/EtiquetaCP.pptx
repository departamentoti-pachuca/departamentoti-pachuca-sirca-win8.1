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03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338" tIns="45669" rIns="91338" bIns="4566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338" tIns="45669" rIns="91338" bIns="45669" rtlCol="0"/>
          <a:lstStyle>
            <a:lvl1pPr algn="r">
              <a:defRPr sz="1200"/>
            </a:lvl1pPr>
          </a:lstStyle>
          <a:p>
            <a:fld id="{82B8C166-AFB2-4F47-A40A-28C1AB6764FF}" type="datetimeFigureOut">
              <a:rPr lang="es-MX" smtClean="0"/>
              <a:t>19/08/2026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8" tIns="45669" rIns="91338" bIns="4566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338" tIns="45669" rIns="91338" bIns="45669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24"/>
            <a:ext cx="2971800" cy="458787"/>
          </a:xfrm>
          <a:prstGeom prst="rect">
            <a:avLst/>
          </a:prstGeom>
        </p:spPr>
        <p:txBody>
          <a:bodyPr vert="horz" lIns="91338" tIns="45669" rIns="91338" bIns="4566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24"/>
            <a:ext cx="2971800" cy="458787"/>
          </a:xfrm>
          <a:prstGeom prst="rect">
            <a:avLst/>
          </a:prstGeom>
        </p:spPr>
        <p:txBody>
          <a:bodyPr vert="horz" lIns="91338" tIns="45669" rIns="91338" bIns="45669" rtlCol="0" anchor="b"/>
          <a:lstStyle>
            <a:lvl1pPr algn="r">
              <a:defRPr sz="1200"/>
            </a:lvl1pPr>
          </a:lstStyle>
          <a:p>
            <a:fld id="{4BD0C24C-7011-408C-B0B3-C5F1496AD6A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204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F000C-CD94-4945-955A-A7C16F55909D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3896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135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357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081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820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8176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525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512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614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688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087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8776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3E03-C727-4D26-A79B-F4F90BF07F58}" type="datetimeFigureOut">
              <a:rPr lang="es-MX" smtClean="0"/>
              <a:pPr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BDDE-0E05-4365-887E-79338EA60B58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273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474872" y="653432"/>
            <a:ext cx="3897652" cy="3089642"/>
            <a:chOff x="1474872" y="755576"/>
            <a:chExt cx="3897652" cy="3089642"/>
          </a:xfrm>
        </p:grpSpPr>
        <p:grpSp>
          <p:nvGrpSpPr>
            <p:cNvPr id="42" name="41 Grupo"/>
            <p:cNvGrpSpPr/>
            <p:nvPr/>
          </p:nvGrpSpPr>
          <p:grpSpPr>
            <a:xfrm>
              <a:off x="1474872" y="755576"/>
              <a:ext cx="3897652" cy="3089642"/>
              <a:chOff x="1855837" y="345028"/>
              <a:chExt cx="3897652" cy="3089642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2319330" y="345028"/>
                <a:ext cx="2808312" cy="238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defTabSz="733425"/>
                <a:r>
                  <a:rPr lang="es-MX" sz="950" b="1" dirty="0">
                    <a:latin typeface="Arial Narrow" pitchFamily="34" charset="0"/>
                  </a:rPr>
                  <a:t>Poder Judicial del Estado de Hidalgo</a:t>
                </a:r>
              </a:p>
            </p:txBody>
          </p:sp>
          <p:sp>
            <p:nvSpPr>
              <p:cNvPr id="32" name="6 CuadroTexto"/>
              <p:cNvSpPr txBox="1">
                <a:spLocks noChangeArrowheads="1"/>
              </p:cNvSpPr>
              <p:nvPr/>
            </p:nvSpPr>
            <p:spPr bwMode="auto">
              <a:xfrm>
                <a:off x="2160744" y="523244"/>
                <a:ext cx="3105234" cy="338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Juzgado en Materia Penal Acusatorio y Oral para el </a:t>
                </a:r>
              </a:p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Circuito de Pachuca de Soto, Hidalgo</a:t>
                </a:r>
                <a:endParaRPr lang="es-MX" sz="1000" b="1" dirty="0"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29" name="28 CuadroTexto"/>
              <p:cNvSpPr txBox="1"/>
              <p:nvPr/>
            </p:nvSpPr>
            <p:spPr>
              <a:xfrm>
                <a:off x="1855837" y="1762595"/>
                <a:ext cx="11425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Tipo de Audiencia: </a:t>
                </a:r>
              </a:p>
              <a:p>
                <a:pPr algn="ctr"/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}}.</a:t>
                </a:r>
                <a:endParaRPr lang="es-ES" sz="700" dirty="0">
                  <a:latin typeface="Arial Narrow" pitchFamily="34" charset="0"/>
                  <a:cs typeface="Arial" charset="0"/>
                </a:endParaRPr>
              </a:p>
              <a:p>
                <a:pPr algn="ctr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Disco: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 /</a:t>
                </a:r>
                <a:endParaRPr lang="es-MX" sz="700" dirty="0"/>
              </a:p>
            </p:txBody>
          </p:sp>
          <p:sp>
            <p:nvSpPr>
              <p:cNvPr id="33" name="6 CuadroTexto"/>
              <p:cNvSpPr txBox="1">
                <a:spLocks noChangeArrowheads="1"/>
              </p:cNvSpPr>
              <p:nvPr/>
            </p:nvSpPr>
            <p:spPr bwMode="auto">
              <a:xfrm>
                <a:off x="4444085" y="1625926"/>
                <a:ext cx="1309404" cy="1061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lvl="0" algn="ctr" eaLnBrk="1" hangingPunct="1">
                  <a:defRPr/>
                </a:pPr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Cuaderno Preliminar: 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NoCausa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lvl="0" algn="ctr" eaLnBrk="1" hangingPunct="1">
                  <a:defRPr/>
                </a:pPr>
                <a:endPara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NUC: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{{NUC}}</a:t>
                </a:r>
              </a:p>
              <a:p>
                <a:pPr lvl="0" algn="ctr" eaLnBrk="1" hangingPunct="1">
                  <a:defRPr/>
                </a:pPr>
                <a:endPara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Fecha de Audiencia y Hora: </a:t>
                </a:r>
              </a:p>
              <a:p>
                <a:pPr algn="ctr" eaLnBrk="1" hangingPunct="1">
                  <a:defRPr/>
                </a:pP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FeAudiencia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}}.</a:t>
                </a:r>
              </a:p>
              <a:p>
                <a:pPr algn="ctr" eaLnBrk="1" hangingPunct="1"/>
                <a:r>
                  <a:rPr lang="es-MX" sz="700" dirty="0">
                    <a:latin typeface="Arial Narrow" pitchFamily="34" charset="0"/>
                    <a:cs typeface="Arial" charset="0"/>
                  </a:rPr>
                  <a:t>{{Hora conclusión}} 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Hrs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.</a:t>
                </a:r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 eaLnBrk="1" hangingPunct="1"/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Original</a:t>
                </a:r>
                <a:endParaRPr lang="es-MX" sz="700" b="1" dirty="0"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2330346" y="3065338"/>
                <a:ext cx="3000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ES" sz="1000" b="1" dirty="0" err="1"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ES" sz="1000" b="1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Juez: </a:t>
                </a:r>
                <a:r>
                  <a:rPr lang="it-IT" sz="800" b="1" dirty="0">
                    <a:latin typeface="Arial Narrow" pitchFamily="34" charset="0"/>
                    <a:cs typeface="Arial" charset="0"/>
                  </a:rPr>
                  <a:t>{{Juez}}</a:t>
                </a:r>
                <a:endParaRPr lang="es-ES" sz="800" dirty="0">
                  <a:latin typeface="Arial Narrow" pitchFamily="34" charset="0"/>
                  <a:cs typeface="Arial" charset="0"/>
                </a:endParaRPr>
              </a:p>
            </p:txBody>
          </p:sp>
        </p:grpSp>
        <p:pic>
          <p:nvPicPr>
            <p:cNvPr id="18" name="Imagen 1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58" t="21034" r="14545" b="19642"/>
            <a:stretch/>
          </p:blipFill>
          <p:spPr>
            <a:xfrm>
              <a:off x="1622888" y="1229282"/>
              <a:ext cx="936104" cy="750593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7C0FD7C-DC61-EDC5-6640-4C444A288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5535" y="1257542"/>
              <a:ext cx="907259" cy="748768"/>
            </a:xfrm>
            <a:prstGeom prst="rect">
              <a:avLst/>
            </a:prstGeom>
          </p:spPr>
        </p:pic>
      </p:grpSp>
      <p:grpSp>
        <p:nvGrpSpPr>
          <p:cNvPr id="3" name="Grupo 2"/>
          <p:cNvGrpSpPr/>
          <p:nvPr/>
        </p:nvGrpSpPr>
        <p:grpSpPr>
          <a:xfrm>
            <a:off x="1614909" y="5201122"/>
            <a:ext cx="3815324" cy="3146991"/>
            <a:chOff x="1614909" y="5201122"/>
            <a:chExt cx="3815324" cy="3146991"/>
          </a:xfrm>
        </p:grpSpPr>
        <p:grpSp>
          <p:nvGrpSpPr>
            <p:cNvPr id="43" name="42 Grupo"/>
            <p:cNvGrpSpPr/>
            <p:nvPr/>
          </p:nvGrpSpPr>
          <p:grpSpPr>
            <a:xfrm>
              <a:off x="1614909" y="5201122"/>
              <a:ext cx="3815324" cy="3146991"/>
              <a:chOff x="1873798" y="4787298"/>
              <a:chExt cx="3815324" cy="3146991"/>
            </a:xfrm>
          </p:grpSpPr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2305042" y="4787298"/>
                <a:ext cx="2808312" cy="238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defTabSz="733425"/>
                <a:r>
                  <a:rPr lang="es-MX" sz="950" b="1" dirty="0">
                    <a:latin typeface="Arial Narrow" pitchFamily="34" charset="0"/>
                  </a:rPr>
                  <a:t>Poder Judicial del Estado de Hidalgo</a:t>
                </a:r>
              </a:p>
            </p:txBody>
          </p:sp>
          <p:sp>
            <p:nvSpPr>
              <p:cNvPr id="25" name="6 CuadroTexto"/>
              <p:cNvSpPr txBox="1">
                <a:spLocks noChangeArrowheads="1"/>
              </p:cNvSpPr>
              <p:nvPr/>
            </p:nvSpPr>
            <p:spPr bwMode="auto">
              <a:xfrm>
                <a:off x="2160296" y="4950812"/>
                <a:ext cx="3096344" cy="338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Juzgado en Materia Penal Acusatorio y Oral para el </a:t>
                </a:r>
              </a:p>
              <a:p>
                <a:pPr algn="ctr" eaLnBrk="1" hangingPunct="1"/>
                <a:r>
                  <a:rPr lang="es-MX" sz="800" b="1" dirty="0">
                    <a:latin typeface="Arial Narrow" pitchFamily="34" charset="0"/>
                    <a:cs typeface="Arial" charset="0"/>
                  </a:rPr>
                  <a:t>Circuito de Pachuca de Soto, Hidalgo</a:t>
                </a:r>
                <a:endParaRPr lang="es-MX" sz="800" dirty="0"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26" name="6 CuadroTexto"/>
              <p:cNvSpPr txBox="1">
                <a:spLocks noChangeArrowheads="1"/>
              </p:cNvSpPr>
              <p:nvPr/>
            </p:nvSpPr>
            <p:spPr bwMode="auto">
              <a:xfrm>
                <a:off x="4322009" y="6097486"/>
                <a:ext cx="1367113" cy="9540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Cuaderno Preliminar: 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NoCausa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lvl="0" algn="ctr" eaLnBrk="1" hangingPunct="1">
                  <a:defRPr/>
                </a:pPr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NUC: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 {{NUC}}</a:t>
                </a:r>
              </a:p>
              <a:p>
                <a:pPr lvl="0" algn="ctr" eaLnBrk="1" hangingPunct="1">
                  <a:defRPr/>
                </a:pPr>
                <a:endPara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lvl="0" algn="ctr" eaLnBrk="1" hangingPunct="1">
                  <a:defRPr/>
                </a:pPr>
                <a:r>
                  <a:rPr lang="es-MX" sz="7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Fecha de Audiencia y Hora: </a:t>
                </a:r>
              </a:p>
              <a:p>
                <a:pPr algn="ctr" eaLnBrk="1" hangingPunct="1">
                  <a:defRPr/>
                </a:pP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FeAudiencia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}}.</a:t>
                </a:r>
              </a:p>
              <a:p>
                <a:pPr lvl="0" algn="ctr" eaLnBrk="1" hangingPunct="1">
                  <a:defRPr/>
                </a:pPr>
                <a:endPara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es-MX" sz="700" dirty="0">
                    <a:latin typeface="Arial Narrow" pitchFamily="34" charset="0"/>
                    <a:cs typeface="Arial" charset="0"/>
                  </a:rPr>
                  <a:t>{{Hora conclusión}} 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Hrs</a:t>
                </a:r>
                <a:r>
                  <a:rPr lang="es-MX" sz="700">
                    <a:latin typeface="Arial Narrow" pitchFamily="34" charset="0"/>
                    <a:cs typeface="Arial" charset="0"/>
                  </a:rPr>
                  <a:t>.</a:t>
                </a:r>
                <a:endParaRPr lang="es-MX" sz="700" b="1">
                  <a:latin typeface="Arial Narrow" pitchFamily="34" charset="0"/>
                  <a:cs typeface="Arial" charset="0"/>
                </a:endParaRPr>
              </a:p>
              <a:p>
                <a:pPr lvl="0" algn="ctr" eaLnBrk="1" hangingPunct="1">
                  <a:defRPr/>
                </a:pPr>
                <a:endPara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</p:txBody>
          </p:sp>
          <p:sp>
            <p:nvSpPr>
              <p:cNvPr id="23" name="22 CuadroTexto"/>
              <p:cNvSpPr txBox="1"/>
              <p:nvPr/>
            </p:nvSpPr>
            <p:spPr>
              <a:xfrm>
                <a:off x="1873798" y="6154447"/>
                <a:ext cx="11425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Tipo de Audiencia: </a:t>
                </a:r>
              </a:p>
              <a:p>
                <a:pPr algn="ctr"/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}}.</a:t>
                </a:r>
                <a:endParaRPr lang="es-ES" sz="700" dirty="0">
                  <a:latin typeface="Arial Narrow" pitchFamily="34" charset="0"/>
                  <a:cs typeface="Arial" charset="0"/>
                </a:endParaRPr>
              </a:p>
              <a:p>
                <a:pPr algn="ctr"/>
                <a:endParaRPr lang="es-MX" sz="700" b="1" dirty="0">
                  <a:latin typeface="Arial Narrow" pitchFamily="34" charset="0"/>
                  <a:cs typeface="Arial" charset="0"/>
                </a:endParaRPr>
              </a:p>
              <a:p>
                <a:pPr algn="ctr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Disco: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 /</a:t>
                </a:r>
                <a:endParaRPr lang="es-MX" sz="700" dirty="0"/>
              </a:p>
            </p:txBody>
          </p:sp>
          <p:sp>
            <p:nvSpPr>
              <p:cNvPr id="27" name="26 CuadroTexto"/>
              <p:cNvSpPr txBox="1"/>
              <p:nvPr/>
            </p:nvSpPr>
            <p:spPr>
              <a:xfrm>
                <a:off x="2160296" y="7010959"/>
                <a:ext cx="315507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ES" sz="1000" b="1" dirty="0" err="1"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lang="es-ES" sz="1000" b="1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/>
                <a:r>
                  <a:rPr lang="es-MX" sz="800" b="1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Certificación</a:t>
                </a:r>
              </a:p>
              <a:p>
                <a:pPr algn="ctr"/>
                <a:r>
                  <a:rPr lang="it-IT" sz="600" b="1" dirty="0">
                    <a:latin typeface="Arial Narrow" pitchFamily="34" charset="0"/>
                    <a:cs typeface="Arial" charset="0"/>
                  </a:rPr>
                  <a:t>{{Juez}} </a:t>
                </a:r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Juez Penal de Control en el Estado de Hidalgo, 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Certifico y doy fe que la presente videograbación, es copia auténtica de la original,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en términos de los artículos 71 del Código Nacional de Procedimientos Penales,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7 fracción II y 63 fracción XI de la ley orgánica del Poder Judicial del 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Estado de Hidalgo, lo que hago constar para los efectos </a:t>
                </a:r>
              </a:p>
              <a:p>
                <a:pPr lvl="0" algn="ctr"/>
                <a:r>
                  <a:rPr lang="es-MX" sz="6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legales a los que haya lugar.</a:t>
                </a:r>
              </a:p>
            </p:txBody>
          </p:sp>
        </p:grpSp>
        <p:pic>
          <p:nvPicPr>
            <p:cNvPr id="21" name="Imagen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472" y="5671281"/>
              <a:ext cx="936533" cy="772927"/>
            </a:xfrm>
            <a:prstGeom prst="rect">
              <a:avLst/>
            </a:prstGeom>
          </p:spPr>
        </p:pic>
        <p:pic>
          <p:nvPicPr>
            <p:cNvPr id="22" name="Imagen 21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61" t="20606" r="14937" b="22222"/>
            <a:stretch/>
          </p:blipFill>
          <p:spPr>
            <a:xfrm>
              <a:off x="1822068" y="5743288"/>
              <a:ext cx="854746" cy="7009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801987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677</TotalTime>
  <Words>204</Words>
  <Application>Microsoft Office PowerPoint</Application>
  <PresentationFormat>Carta (216 x 279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1_Tema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Sala IV</dc:creator>
  <cp:lastModifiedBy>PEREZ MEJIA</cp:lastModifiedBy>
  <cp:revision>172</cp:revision>
  <cp:lastPrinted>2024-01-29T21:47:54Z</cp:lastPrinted>
  <dcterms:created xsi:type="dcterms:W3CDTF">2017-10-09T14:18:15Z</dcterms:created>
  <dcterms:modified xsi:type="dcterms:W3CDTF">2026-08-19T19:32:47Z</dcterms:modified>
</cp:coreProperties>
</file>